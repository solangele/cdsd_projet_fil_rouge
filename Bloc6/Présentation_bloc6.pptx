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Nuni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bold.fntdata"/><Relationship Id="rId16" Type="http://schemas.openxmlformats.org/officeDocument/2006/relationships/font" Target="fonts/Nunito-regular.fntdata"/><Relationship Id="rId5" Type="http://schemas.openxmlformats.org/officeDocument/2006/relationships/notesMaster" Target="notesMasters/notesMaster1.xml"/><Relationship Id="rId19" Type="http://schemas.openxmlformats.org/officeDocument/2006/relationships/font" Target="fonts/Nunito-boldItalic.fntdata"/><Relationship Id="rId6" Type="http://schemas.openxmlformats.org/officeDocument/2006/relationships/slide" Target="slides/slide1.xml"/><Relationship Id="rId18" Type="http://schemas.openxmlformats.org/officeDocument/2006/relationships/font" Target="fonts/Nuni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e5e357698e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e5e357698e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5e357698e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e5e357698e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5e357698e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e5e357698e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e5e357698e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e5e357698e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e357698e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e5e357698e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5e357698e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e5e357698e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e357698e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e5e357698e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e5e357698e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e5e357698e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5e357698e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e5e357698e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fr" sz="2200"/>
              <a:t>Passage le 04/06/2026</a:t>
            </a:r>
            <a:endParaRPr sz="2200"/>
          </a:p>
          <a:p>
            <a:pPr indent="0" lvl="0" marL="0" rtl="0" algn="l">
              <a:spcBef>
                <a:spcPts val="0"/>
              </a:spcBef>
              <a:spcAft>
                <a:spcPts val="0"/>
              </a:spcAft>
              <a:buNone/>
            </a:pPr>
            <a:r>
              <a:t/>
            </a:r>
            <a:endParaRPr sz="2200"/>
          </a:p>
          <a:p>
            <a:pPr indent="0" lvl="0" marL="0" rtl="0" algn="ctr">
              <a:spcBef>
                <a:spcPts val="0"/>
              </a:spcBef>
              <a:spcAft>
                <a:spcPts val="0"/>
              </a:spcAft>
              <a:buNone/>
            </a:pPr>
            <a:r>
              <a:rPr lang="fr" sz="3800"/>
              <a:t>Projet MusiQualité – Soutenance C6</a:t>
            </a:r>
            <a:endParaRPr sz="3800"/>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i="1" lang="fr" sz="2000"/>
              <a:t>Présenté par Angèle Despretz </a:t>
            </a:r>
            <a:endParaRPr i="1"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01 / Contexte et problématique</a:t>
            </a:r>
            <a:endParaRPr/>
          </a:p>
        </p:txBody>
      </p:sp>
      <p:sp>
        <p:nvSpPr>
          <p:cNvPr id="135" name="Google Shape;135;p14"/>
          <p:cNvSpPr txBox="1"/>
          <p:nvPr>
            <p:ph idx="1" type="body"/>
          </p:nvPr>
        </p:nvSpPr>
        <p:spPr>
          <a:xfrm>
            <a:off x="1192850" y="1560075"/>
            <a:ext cx="46236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800"/>
              <a:t>Pourquoi ce projet ? </a:t>
            </a:r>
            <a:endParaRPr sz="1800"/>
          </a:p>
          <a:p>
            <a:pPr indent="0" lvl="0" marL="0" rtl="0" algn="l">
              <a:spcBef>
                <a:spcPts val="1200"/>
              </a:spcBef>
              <a:spcAft>
                <a:spcPts val="0"/>
              </a:spcAft>
              <a:buNone/>
            </a:pPr>
            <a:r>
              <a:rPr lang="fr" sz="1200"/>
              <a:t>Enjeu métier</a:t>
            </a:r>
            <a:endParaRPr sz="1200"/>
          </a:p>
          <a:p>
            <a:pPr indent="0" lvl="0" marL="0" rtl="0" algn="l">
              <a:spcBef>
                <a:spcPts val="1200"/>
              </a:spcBef>
              <a:spcAft>
                <a:spcPts val="0"/>
              </a:spcAft>
              <a:buNone/>
            </a:pPr>
            <a:r>
              <a:rPr lang="fr" sz="3100"/>
              <a:t>1,8 M€</a:t>
            </a:r>
            <a:endParaRPr sz="3100"/>
          </a:p>
          <a:p>
            <a:pPr indent="0" lvl="0" marL="0" rtl="0" algn="l">
              <a:spcBef>
                <a:spcPts val="1200"/>
              </a:spcBef>
              <a:spcAft>
                <a:spcPts val="1200"/>
              </a:spcAft>
              <a:buNone/>
            </a:pPr>
            <a:r>
              <a:rPr lang="fr" sz="892"/>
              <a:t>L'école de musique privée MusiQualité (45 campus en France, 25 M€ de CA), fait face à un flux massif de 1000 extraits audio envoyés chaque semaine par les élèves sur sa plateforme en ligne. Actuellement, le tri et l'aiguillage de ces fichiers vers différents départements (Cordes, Vents, Claviers...) se font manuellement par l'équipe administrative, ce qui génère des retards de correction et un coût de gestion estimé à 1,8 M€/an en perte de productivité. </a:t>
            </a:r>
            <a:endParaRPr sz="892"/>
          </a:p>
        </p:txBody>
      </p:sp>
      <p:sp>
        <p:nvSpPr>
          <p:cNvPr id="136" name="Google Shape;136;p14"/>
          <p:cNvSpPr txBox="1"/>
          <p:nvPr>
            <p:ph idx="1" type="body"/>
          </p:nvPr>
        </p:nvSpPr>
        <p:spPr>
          <a:xfrm>
            <a:off x="6496250" y="1635075"/>
            <a:ext cx="2078700" cy="2761200"/>
          </a:xfrm>
          <a:prstGeom prst="rect">
            <a:avLst/>
          </a:prstGeom>
          <a:solidFill>
            <a:schemeClr val="dk2"/>
          </a:solid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fr" sz="1192">
                <a:solidFill>
                  <a:srgbClr val="990000"/>
                </a:solidFill>
              </a:rPr>
              <a:t>Problématique data SMART</a:t>
            </a:r>
            <a:endParaRPr sz="1192">
              <a:solidFill>
                <a:srgbClr val="990000"/>
              </a:solidFill>
            </a:endParaRPr>
          </a:p>
          <a:p>
            <a:pPr indent="0" lvl="0" marL="0" rtl="0" algn="l">
              <a:spcBef>
                <a:spcPts val="1200"/>
              </a:spcBef>
              <a:spcAft>
                <a:spcPts val="1200"/>
              </a:spcAft>
              <a:buNone/>
            </a:pPr>
            <a:r>
              <a:rPr lang="fr" sz="892">
                <a:solidFill>
                  <a:schemeClr val="dk1"/>
                </a:solidFill>
              </a:rPr>
              <a:t>Pour chaque fichier audio déposé sur la plateforme des 5 campus pilotes (extraits de 3 secondes, format .wav ou .mp3), prédire la famille d'instruments parmi 7 catégories (Cordes frottées, Cordes pincées, Orgues/Claviers, Percussions, Pianos, Vents/Cuivre, Chant), grâce à un traitement par Réseau de Neurones Convolutif (CNN/TensorFlow) alimenté par des spectrogrammes de Mel (Librosa), avec une intégration dans le système de routage via une API Flask conteneurisée sous Docker, testable avant le 04/06/2026. </a:t>
            </a:r>
            <a:endParaRPr sz="892">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02 / Stack Technique</a:t>
            </a:r>
            <a:endParaRPr/>
          </a:p>
          <a:p>
            <a:pPr indent="0" lvl="0" marL="0" rtl="0" algn="l">
              <a:spcBef>
                <a:spcPts val="0"/>
              </a:spcBef>
              <a:spcAft>
                <a:spcPts val="0"/>
              </a:spcAft>
              <a:buNone/>
            </a:pPr>
            <a:r>
              <a:t/>
            </a:r>
            <a:endParaRPr/>
          </a:p>
        </p:txBody>
      </p:sp>
      <p:sp>
        <p:nvSpPr>
          <p:cNvPr id="142" name="Google Shape;142;p15"/>
          <p:cNvSpPr txBox="1"/>
          <p:nvPr>
            <p:ph idx="1" type="body"/>
          </p:nvPr>
        </p:nvSpPr>
        <p:spPr>
          <a:xfrm>
            <a:off x="819150" y="1800200"/>
            <a:ext cx="2029200" cy="1680000"/>
          </a:xfrm>
          <a:prstGeom prst="rect">
            <a:avLst/>
          </a:prstGeom>
          <a:solidFill>
            <a:schemeClr val="dk1"/>
          </a:solidFill>
          <a:ln cap="flat" cmpd="sng" w="28575">
            <a:solidFill>
              <a:srgbClr val="8E7CC3"/>
            </a:solidFill>
            <a:prstDash val="solid"/>
            <a:round/>
            <a:headEnd len="sm" w="sm" type="none"/>
            <a:tailEnd len="sm" w="sm" type="none"/>
          </a:ln>
        </p:spPr>
        <p:txBody>
          <a:bodyPr anchorCtr="0" anchor="t" bIns="91425" lIns="91425" spcFirstLastPara="1" rIns="91425" wrap="square" tIns="91425">
            <a:normAutofit fontScale="85000" lnSpcReduction="10000"/>
          </a:bodyPr>
          <a:lstStyle/>
          <a:p>
            <a:pPr indent="0" lvl="0" marL="0" rtl="0" algn="ctr">
              <a:spcBef>
                <a:spcPts val="0"/>
              </a:spcBef>
              <a:spcAft>
                <a:spcPts val="0"/>
              </a:spcAft>
              <a:buNone/>
            </a:pPr>
            <a:r>
              <a:rPr lang="fr"/>
              <a:t>Grad-CAM</a:t>
            </a:r>
            <a:endParaRPr/>
          </a:p>
          <a:p>
            <a:pPr indent="0" lvl="0" marL="0" rtl="0" algn="l">
              <a:spcBef>
                <a:spcPts val="1200"/>
              </a:spcBef>
              <a:spcAft>
                <a:spcPts val="0"/>
              </a:spcAft>
              <a:buNone/>
            </a:pPr>
            <a:r>
              <a:rPr lang="fr"/>
              <a:t>4,80/5</a:t>
            </a:r>
            <a:endParaRPr/>
          </a:p>
          <a:p>
            <a:pPr indent="0" lvl="0" marL="0" rtl="0" algn="l">
              <a:spcBef>
                <a:spcPts val="1200"/>
              </a:spcBef>
              <a:spcAft>
                <a:spcPts val="0"/>
              </a:spcAft>
              <a:buNone/>
            </a:pPr>
            <a:r>
              <a:rPr lang="fr" sz="1100"/>
              <a:t>Explicabilité locale visuelle parfaite pour notre pipeline qui traite le son sous forme d’image (spectrogramme)</a:t>
            </a:r>
            <a:endParaRPr sz="1100"/>
          </a:p>
          <a:p>
            <a:pPr indent="0" lvl="0" marL="0" rtl="0" algn="l">
              <a:spcBef>
                <a:spcPts val="1200"/>
              </a:spcBef>
              <a:spcAft>
                <a:spcPts val="1200"/>
              </a:spcAft>
              <a:buNone/>
            </a:pPr>
            <a:r>
              <a:t/>
            </a:r>
            <a:endParaRPr/>
          </a:p>
        </p:txBody>
      </p:sp>
      <p:sp>
        <p:nvSpPr>
          <p:cNvPr id="143" name="Google Shape;143;p15"/>
          <p:cNvSpPr txBox="1"/>
          <p:nvPr>
            <p:ph idx="1" type="body"/>
          </p:nvPr>
        </p:nvSpPr>
        <p:spPr>
          <a:xfrm>
            <a:off x="3557400" y="1800200"/>
            <a:ext cx="2029200" cy="2118300"/>
          </a:xfrm>
          <a:prstGeom prst="rect">
            <a:avLst/>
          </a:prstGeom>
          <a:ln cap="flat" cmpd="sng" w="2857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None/>
            </a:pPr>
            <a:r>
              <a:rPr lang="fr" sz="1100"/>
              <a:t>LIME</a:t>
            </a:r>
            <a:endParaRPr sz="1100"/>
          </a:p>
          <a:p>
            <a:pPr indent="0" lvl="0" marL="0" rtl="0" algn="l">
              <a:spcBef>
                <a:spcPts val="1200"/>
              </a:spcBef>
              <a:spcAft>
                <a:spcPts val="0"/>
              </a:spcAft>
              <a:buNone/>
            </a:pPr>
            <a:r>
              <a:rPr lang="fr" sz="1100"/>
              <a:t>3,45/5</a:t>
            </a:r>
            <a:endParaRPr sz="1100"/>
          </a:p>
          <a:p>
            <a:pPr indent="0" lvl="0" marL="0" rtl="0" algn="l">
              <a:spcBef>
                <a:spcPts val="1200"/>
              </a:spcBef>
              <a:spcAft>
                <a:spcPts val="0"/>
              </a:spcAft>
              <a:buNone/>
            </a:pPr>
            <a:r>
              <a:rPr lang="fr" sz="900"/>
              <a:t>Segmentation de l’image en super-pixels. Moins précis sur des spectrogrammes de Mel continus et temps de calcul beaucoup trop lourd pour notre conteneur Docker léger. </a:t>
            </a:r>
            <a:endParaRPr sz="900"/>
          </a:p>
          <a:p>
            <a:pPr indent="0" lvl="0" marL="0" rtl="0" algn="l">
              <a:spcBef>
                <a:spcPts val="1200"/>
              </a:spcBef>
              <a:spcAft>
                <a:spcPts val="1200"/>
              </a:spcAft>
              <a:buNone/>
            </a:pPr>
            <a:r>
              <a:t/>
            </a:r>
            <a:endParaRPr/>
          </a:p>
        </p:txBody>
      </p:sp>
      <p:sp>
        <p:nvSpPr>
          <p:cNvPr id="144" name="Google Shape;144;p15"/>
          <p:cNvSpPr txBox="1"/>
          <p:nvPr>
            <p:ph idx="1" type="body"/>
          </p:nvPr>
        </p:nvSpPr>
        <p:spPr>
          <a:xfrm>
            <a:off x="6295650" y="1800200"/>
            <a:ext cx="2029200" cy="2118300"/>
          </a:xfrm>
          <a:prstGeom prst="rect">
            <a:avLst/>
          </a:prstGeom>
          <a:ln cap="flat" cmpd="sng" w="28575">
            <a:solidFill>
              <a:srgbClr val="000000"/>
            </a:solidFill>
            <a:prstDash val="solid"/>
            <a:round/>
            <a:headEnd len="sm" w="sm" type="none"/>
            <a:tailEnd len="sm" w="sm" type="none"/>
          </a:ln>
        </p:spPr>
        <p:txBody>
          <a:bodyPr anchorCtr="0" anchor="t" bIns="91425" lIns="91425" spcFirstLastPara="1" rIns="91425" wrap="square" tIns="91425">
            <a:normAutofit fontScale="92500" lnSpcReduction="10000"/>
          </a:bodyPr>
          <a:lstStyle/>
          <a:p>
            <a:pPr indent="0" lvl="0" marL="0" rtl="0" algn="ctr">
              <a:spcBef>
                <a:spcPts val="0"/>
              </a:spcBef>
              <a:spcAft>
                <a:spcPts val="0"/>
              </a:spcAft>
              <a:buNone/>
            </a:pPr>
            <a:r>
              <a:rPr lang="fr" sz="1192"/>
              <a:t>Feature Importance globale</a:t>
            </a:r>
            <a:endParaRPr sz="1192"/>
          </a:p>
          <a:p>
            <a:pPr indent="0" lvl="0" marL="0" rtl="0" algn="l">
              <a:spcBef>
                <a:spcPts val="1200"/>
              </a:spcBef>
              <a:spcAft>
                <a:spcPts val="0"/>
              </a:spcAft>
              <a:buNone/>
            </a:pPr>
            <a:r>
              <a:rPr lang="fr" sz="1192"/>
              <a:t>3,10/5</a:t>
            </a:r>
            <a:endParaRPr sz="1192"/>
          </a:p>
          <a:p>
            <a:pPr indent="0" lvl="0" marL="0" rtl="0" algn="l">
              <a:spcBef>
                <a:spcPts val="1200"/>
              </a:spcBef>
              <a:spcAft>
                <a:spcPts val="0"/>
              </a:spcAft>
              <a:buNone/>
            </a:pPr>
            <a:r>
              <a:rPr lang="fr" sz="950"/>
              <a:t>Donne uniquement le poids global des variables sur l’ensemble de l’apprentissage du CNN. Ne permet pas de comprendre l’erreur ou la décision sur un fichier audio spécifique envoyé en temps réel par un élève.</a:t>
            </a:r>
            <a:endParaRPr sz="950"/>
          </a:p>
          <a:p>
            <a:pPr indent="0" lvl="0" marL="0" rtl="0" algn="l">
              <a:spcBef>
                <a:spcPts val="1200"/>
              </a:spcBef>
              <a:spcAft>
                <a:spcPts val="1200"/>
              </a:spcAft>
              <a:buNone/>
            </a:pPr>
            <a:r>
              <a:t/>
            </a:r>
            <a:endParaRPr/>
          </a:p>
        </p:txBody>
      </p:sp>
      <p:sp>
        <p:nvSpPr>
          <p:cNvPr id="145" name="Google Shape;145;p15"/>
          <p:cNvSpPr txBox="1"/>
          <p:nvPr>
            <p:ph idx="1" type="body"/>
          </p:nvPr>
        </p:nvSpPr>
        <p:spPr>
          <a:xfrm>
            <a:off x="819150" y="3480200"/>
            <a:ext cx="2029200" cy="438300"/>
          </a:xfrm>
          <a:prstGeom prst="rect">
            <a:avLst/>
          </a:prstGeom>
          <a:solidFill>
            <a:srgbClr val="B4A7D6"/>
          </a:solidFill>
          <a:ln cap="flat" cmpd="sng" w="28575">
            <a:solidFill>
              <a:srgbClr val="B4A7D6"/>
            </a:solidFill>
            <a:prstDash val="solid"/>
            <a:round/>
            <a:headEnd len="sm" w="sm" type="none"/>
            <a:tailEnd len="sm" w="sm" type="none"/>
          </a:ln>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t/>
            </a:r>
            <a:endParaRPr sz="1100"/>
          </a:p>
          <a:p>
            <a:pPr indent="0" lvl="0" marL="0" rtl="0" algn="ctr">
              <a:lnSpc>
                <a:spcPct val="10000"/>
              </a:lnSpc>
              <a:spcBef>
                <a:spcPts val="1200"/>
              </a:spcBef>
              <a:spcAft>
                <a:spcPts val="0"/>
              </a:spcAft>
              <a:buNone/>
            </a:pPr>
            <a:r>
              <a:rPr lang="fr" sz="6420"/>
              <a:t>Retenu</a:t>
            </a:r>
            <a:endParaRPr sz="6420"/>
          </a:p>
        </p:txBody>
      </p:sp>
      <p:sp>
        <p:nvSpPr>
          <p:cNvPr id="146" name="Google Shape;146;p15"/>
          <p:cNvSpPr txBox="1"/>
          <p:nvPr>
            <p:ph idx="1" type="body"/>
          </p:nvPr>
        </p:nvSpPr>
        <p:spPr>
          <a:xfrm>
            <a:off x="819150" y="4135300"/>
            <a:ext cx="6944400" cy="361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100"/>
              <a:t>3 technologies évaluées  // 100% adéquation contraintes</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03/ Cadrage</a:t>
            </a:r>
            <a:endParaRPr/>
          </a:p>
        </p:txBody>
      </p:sp>
      <p:sp>
        <p:nvSpPr>
          <p:cNvPr id="152" name="Google Shape;152;p16"/>
          <p:cNvSpPr txBox="1"/>
          <p:nvPr>
            <p:ph idx="1" type="body"/>
          </p:nvPr>
        </p:nvSpPr>
        <p:spPr>
          <a:xfrm>
            <a:off x="819150" y="1601975"/>
            <a:ext cx="2761800" cy="416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Cahier des charges et planning</a:t>
            </a:r>
            <a:endParaRPr/>
          </a:p>
        </p:txBody>
      </p:sp>
      <p:sp>
        <p:nvSpPr>
          <p:cNvPr id="153" name="Google Shape;153;p16"/>
          <p:cNvSpPr txBox="1"/>
          <p:nvPr>
            <p:ph idx="1" type="body"/>
          </p:nvPr>
        </p:nvSpPr>
        <p:spPr>
          <a:xfrm>
            <a:off x="819150" y="2158075"/>
            <a:ext cx="1346100" cy="712800"/>
          </a:xfrm>
          <a:prstGeom prst="rect">
            <a:avLst/>
          </a:prstGeom>
          <a:ln cap="flat" cmpd="sng" w="19050">
            <a:solidFill>
              <a:srgbClr val="0000FF"/>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fr"/>
              <a:t>Cadrage</a:t>
            </a:r>
            <a:endParaRPr/>
          </a:p>
          <a:p>
            <a:pPr indent="0" lvl="0" marL="0" rtl="0" algn="ctr">
              <a:spcBef>
                <a:spcPts val="1200"/>
              </a:spcBef>
              <a:spcAft>
                <a:spcPts val="1200"/>
              </a:spcAft>
              <a:buNone/>
            </a:pPr>
            <a:r>
              <a:rPr lang="fr"/>
              <a:t>S1</a:t>
            </a:r>
            <a:endParaRPr/>
          </a:p>
        </p:txBody>
      </p:sp>
      <p:sp>
        <p:nvSpPr>
          <p:cNvPr id="154" name="Google Shape;154;p16"/>
          <p:cNvSpPr txBox="1"/>
          <p:nvPr>
            <p:ph idx="1" type="body"/>
          </p:nvPr>
        </p:nvSpPr>
        <p:spPr>
          <a:xfrm>
            <a:off x="2359050" y="2158075"/>
            <a:ext cx="1346100" cy="712800"/>
          </a:xfrm>
          <a:prstGeom prst="rect">
            <a:avLst/>
          </a:prstGeom>
          <a:ln cap="flat" cmpd="sng" w="19050">
            <a:solidFill>
              <a:srgbClr val="40ACED"/>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fr"/>
              <a:t>Exploration</a:t>
            </a:r>
            <a:endParaRPr/>
          </a:p>
          <a:p>
            <a:pPr indent="0" lvl="0" marL="0" rtl="0" algn="ctr">
              <a:spcBef>
                <a:spcPts val="1200"/>
              </a:spcBef>
              <a:spcAft>
                <a:spcPts val="1200"/>
              </a:spcAft>
              <a:buNone/>
            </a:pPr>
            <a:r>
              <a:rPr lang="fr"/>
              <a:t>S1-S2</a:t>
            </a:r>
            <a:endParaRPr/>
          </a:p>
        </p:txBody>
      </p:sp>
      <p:sp>
        <p:nvSpPr>
          <p:cNvPr id="155" name="Google Shape;155;p16"/>
          <p:cNvSpPr txBox="1"/>
          <p:nvPr>
            <p:ph idx="1" type="body"/>
          </p:nvPr>
        </p:nvSpPr>
        <p:spPr>
          <a:xfrm>
            <a:off x="3898950" y="2158075"/>
            <a:ext cx="1346100" cy="712800"/>
          </a:xfrm>
          <a:prstGeom prst="rect">
            <a:avLst/>
          </a:prstGeom>
          <a:ln cap="flat" cmpd="sng" w="19050">
            <a:solidFill>
              <a:srgbClr val="8E5BF4"/>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fr"/>
              <a:t>Modèle</a:t>
            </a:r>
            <a:endParaRPr/>
          </a:p>
          <a:p>
            <a:pPr indent="0" lvl="0" marL="0" rtl="0" algn="ctr">
              <a:spcBef>
                <a:spcPts val="1200"/>
              </a:spcBef>
              <a:spcAft>
                <a:spcPts val="1200"/>
              </a:spcAft>
              <a:buNone/>
            </a:pPr>
            <a:r>
              <a:rPr lang="fr"/>
              <a:t>S2-S3</a:t>
            </a:r>
            <a:endParaRPr/>
          </a:p>
        </p:txBody>
      </p:sp>
      <p:sp>
        <p:nvSpPr>
          <p:cNvPr id="156" name="Google Shape;156;p16"/>
          <p:cNvSpPr txBox="1"/>
          <p:nvPr>
            <p:ph idx="1" type="body"/>
          </p:nvPr>
        </p:nvSpPr>
        <p:spPr>
          <a:xfrm>
            <a:off x="5438850" y="2158075"/>
            <a:ext cx="1346100" cy="712800"/>
          </a:xfrm>
          <a:prstGeom prst="rect">
            <a:avLst/>
          </a:prstGeom>
          <a:ln cap="flat" cmpd="sng" w="19050">
            <a:solidFill>
              <a:srgbClr val="F6716E"/>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fr"/>
              <a:t>Démo</a:t>
            </a:r>
            <a:endParaRPr/>
          </a:p>
          <a:p>
            <a:pPr indent="0" lvl="0" marL="0" rtl="0" algn="ctr">
              <a:spcBef>
                <a:spcPts val="1200"/>
              </a:spcBef>
              <a:spcAft>
                <a:spcPts val="1200"/>
              </a:spcAft>
              <a:buNone/>
            </a:pPr>
            <a:r>
              <a:rPr lang="fr"/>
              <a:t>S3-S4</a:t>
            </a:r>
            <a:endParaRPr/>
          </a:p>
        </p:txBody>
      </p:sp>
      <p:sp>
        <p:nvSpPr>
          <p:cNvPr id="157" name="Google Shape;157;p16"/>
          <p:cNvSpPr txBox="1"/>
          <p:nvPr>
            <p:ph idx="1" type="body"/>
          </p:nvPr>
        </p:nvSpPr>
        <p:spPr>
          <a:xfrm>
            <a:off x="6978750" y="2158075"/>
            <a:ext cx="1346100" cy="712800"/>
          </a:xfrm>
          <a:prstGeom prst="rect">
            <a:avLst/>
          </a:prstGeom>
          <a:ln cap="flat" cmpd="sng" w="19050">
            <a:solidFill>
              <a:srgbClr val="49CB73"/>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fr"/>
              <a:t>Pilote</a:t>
            </a:r>
            <a:endParaRPr/>
          </a:p>
          <a:p>
            <a:pPr indent="0" lvl="0" marL="0" rtl="0" algn="ctr">
              <a:spcBef>
                <a:spcPts val="1200"/>
              </a:spcBef>
              <a:spcAft>
                <a:spcPts val="1200"/>
              </a:spcAft>
              <a:buNone/>
            </a:pPr>
            <a:r>
              <a:rPr lang="fr"/>
              <a:t>S4-S10</a:t>
            </a:r>
            <a:endParaRPr/>
          </a:p>
        </p:txBody>
      </p:sp>
      <p:sp>
        <p:nvSpPr>
          <p:cNvPr id="158" name="Google Shape;158;p16"/>
          <p:cNvSpPr txBox="1"/>
          <p:nvPr>
            <p:ph idx="1" type="body"/>
          </p:nvPr>
        </p:nvSpPr>
        <p:spPr>
          <a:xfrm>
            <a:off x="1207350" y="2964925"/>
            <a:ext cx="1850400" cy="1072200"/>
          </a:xfrm>
          <a:prstGeom prst="rect">
            <a:avLst/>
          </a:prstGeom>
          <a:ln cap="flat" cmpd="sng" w="19050">
            <a:solidFill>
              <a:schemeClr val="lt2"/>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fr" sz="1100"/>
              <a:t>Budget Total HT</a:t>
            </a:r>
            <a:endParaRPr sz="1100"/>
          </a:p>
          <a:p>
            <a:pPr indent="0" lvl="0" marL="0" rtl="0" algn="ctr">
              <a:spcBef>
                <a:spcPts val="1200"/>
              </a:spcBef>
              <a:spcAft>
                <a:spcPts val="0"/>
              </a:spcAft>
              <a:buNone/>
            </a:pPr>
            <a:r>
              <a:rPr lang="fr" sz="2216">
                <a:solidFill>
                  <a:schemeClr val="accent6"/>
                </a:solidFill>
              </a:rPr>
              <a:t>134 k€</a:t>
            </a:r>
            <a:endParaRPr sz="2216">
              <a:solidFill>
                <a:schemeClr val="accent6"/>
              </a:solidFill>
            </a:endParaRPr>
          </a:p>
          <a:p>
            <a:pPr indent="0" lvl="0" marL="0" rtl="0" algn="l">
              <a:spcBef>
                <a:spcPts val="1200"/>
              </a:spcBef>
              <a:spcAft>
                <a:spcPts val="1200"/>
              </a:spcAft>
              <a:buNone/>
            </a:pPr>
            <a:r>
              <a:rPr i="1" lang="fr" sz="1000"/>
              <a:t>phase 1 + phase 2</a:t>
            </a:r>
            <a:endParaRPr i="1" sz="1000"/>
          </a:p>
        </p:txBody>
      </p:sp>
      <p:sp>
        <p:nvSpPr>
          <p:cNvPr id="159" name="Google Shape;159;p16"/>
          <p:cNvSpPr txBox="1"/>
          <p:nvPr>
            <p:ph idx="1" type="body"/>
          </p:nvPr>
        </p:nvSpPr>
        <p:spPr>
          <a:xfrm>
            <a:off x="3646800" y="2964925"/>
            <a:ext cx="1850400" cy="1072200"/>
          </a:xfrm>
          <a:prstGeom prst="rect">
            <a:avLst/>
          </a:prstGeom>
          <a:ln cap="flat" cmpd="sng" w="19050">
            <a:solidFill>
              <a:schemeClr val="lt2"/>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fr" sz="1100"/>
              <a:t>Provision aléas</a:t>
            </a:r>
            <a:endParaRPr sz="1100"/>
          </a:p>
          <a:p>
            <a:pPr indent="0" lvl="0" marL="0" rtl="0" algn="ctr">
              <a:spcBef>
                <a:spcPts val="1200"/>
              </a:spcBef>
              <a:spcAft>
                <a:spcPts val="0"/>
              </a:spcAft>
              <a:buNone/>
            </a:pPr>
            <a:r>
              <a:rPr lang="fr" sz="2216">
                <a:solidFill>
                  <a:srgbClr val="F1C232"/>
                </a:solidFill>
              </a:rPr>
              <a:t>15 %</a:t>
            </a:r>
            <a:endParaRPr sz="2216">
              <a:solidFill>
                <a:srgbClr val="F1C232"/>
              </a:solidFill>
            </a:endParaRPr>
          </a:p>
          <a:p>
            <a:pPr indent="0" lvl="0" marL="0" rtl="0" algn="l">
              <a:spcBef>
                <a:spcPts val="1200"/>
              </a:spcBef>
              <a:spcAft>
                <a:spcPts val="1200"/>
              </a:spcAft>
              <a:buNone/>
            </a:pPr>
            <a:r>
              <a:rPr i="1" lang="fr" sz="1000"/>
              <a:t>Intégré dès le cadrage</a:t>
            </a:r>
            <a:endParaRPr i="1" sz="1000"/>
          </a:p>
        </p:txBody>
      </p:sp>
      <p:sp>
        <p:nvSpPr>
          <p:cNvPr id="160" name="Google Shape;160;p16"/>
          <p:cNvSpPr txBox="1"/>
          <p:nvPr>
            <p:ph idx="1" type="body"/>
          </p:nvPr>
        </p:nvSpPr>
        <p:spPr>
          <a:xfrm>
            <a:off x="6086250" y="2964925"/>
            <a:ext cx="1850400" cy="1072200"/>
          </a:xfrm>
          <a:prstGeom prst="rect">
            <a:avLst/>
          </a:prstGeom>
          <a:ln cap="flat" cmpd="sng" w="19050">
            <a:solidFill>
              <a:schemeClr val="lt2"/>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fr" sz="1100"/>
              <a:t>Ecart vs cible</a:t>
            </a:r>
            <a:endParaRPr sz="1100"/>
          </a:p>
          <a:p>
            <a:pPr indent="0" lvl="0" marL="0" rtl="0" algn="ctr">
              <a:spcBef>
                <a:spcPts val="1200"/>
              </a:spcBef>
              <a:spcAft>
                <a:spcPts val="0"/>
              </a:spcAft>
              <a:buNone/>
            </a:pPr>
            <a:r>
              <a:rPr lang="fr" sz="2216">
                <a:solidFill>
                  <a:srgbClr val="49CB73"/>
                </a:solidFill>
              </a:rPr>
              <a:t>-0,7 %</a:t>
            </a:r>
            <a:endParaRPr sz="2216">
              <a:solidFill>
                <a:srgbClr val="49CB73"/>
              </a:solidFill>
            </a:endParaRPr>
          </a:p>
          <a:p>
            <a:pPr indent="0" lvl="0" marL="0" rtl="0" algn="l">
              <a:spcBef>
                <a:spcPts val="1200"/>
              </a:spcBef>
              <a:spcAft>
                <a:spcPts val="1200"/>
              </a:spcAft>
              <a:buNone/>
            </a:pPr>
            <a:r>
              <a:rPr i="1" lang="fr" sz="1000"/>
              <a:t>cible +/- 10%</a:t>
            </a:r>
            <a:endParaRPr i="1" sz="1000"/>
          </a:p>
        </p:txBody>
      </p:sp>
      <p:sp>
        <p:nvSpPr>
          <p:cNvPr id="161" name="Google Shape;161;p16"/>
          <p:cNvSpPr txBox="1"/>
          <p:nvPr>
            <p:ph idx="1" type="body"/>
          </p:nvPr>
        </p:nvSpPr>
        <p:spPr>
          <a:xfrm>
            <a:off x="819150" y="4131175"/>
            <a:ext cx="6573900" cy="363300"/>
          </a:xfrm>
          <a:prstGeom prst="rect">
            <a:avLst/>
          </a:prstGeom>
          <a:ln cap="flat" cmpd="sng" w="19050">
            <a:solidFill>
              <a:schemeClr val="lt2"/>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1200"/>
              </a:spcAft>
              <a:buNone/>
            </a:pPr>
            <a:r>
              <a:rPr lang="fr" sz="1000"/>
              <a:t>Rétroplanning : 100% // Ecart budget : -0,7 % // Complétude CDC : 100%</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04/ Modèle et performance</a:t>
            </a:r>
            <a:endParaRPr/>
          </a:p>
        </p:txBody>
      </p:sp>
      <p:sp>
        <p:nvSpPr>
          <p:cNvPr id="167" name="Google Shape;167;p17"/>
          <p:cNvSpPr txBox="1"/>
          <p:nvPr>
            <p:ph idx="1" type="body"/>
          </p:nvPr>
        </p:nvSpPr>
        <p:spPr>
          <a:xfrm>
            <a:off x="5674300" y="1990725"/>
            <a:ext cx="2990400" cy="2255700"/>
          </a:xfrm>
          <a:prstGeom prst="rect">
            <a:avLst/>
          </a:prstGeom>
          <a:ln cap="flat" cmpd="sng" w="28575">
            <a:solidFill>
              <a:srgbClr val="F6716E"/>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fr">
                <a:solidFill>
                  <a:srgbClr val="F6716E"/>
                </a:solidFill>
              </a:rPr>
              <a:t>Performance</a:t>
            </a:r>
            <a:endParaRPr>
              <a:solidFill>
                <a:srgbClr val="F6716E"/>
              </a:solidFill>
            </a:endParaRPr>
          </a:p>
          <a:p>
            <a:pPr indent="0" lvl="0" marL="0" rtl="0" algn="l">
              <a:spcBef>
                <a:spcPts val="1200"/>
              </a:spcBef>
              <a:spcAft>
                <a:spcPts val="0"/>
              </a:spcAft>
              <a:buNone/>
            </a:pPr>
            <a:r>
              <a:rPr lang="fr"/>
              <a:t>Recall : 94%</a:t>
            </a:r>
            <a:endParaRPr/>
          </a:p>
          <a:p>
            <a:pPr indent="0" lvl="0" marL="0" rtl="0" algn="l">
              <a:spcBef>
                <a:spcPts val="0"/>
              </a:spcBef>
              <a:spcAft>
                <a:spcPts val="0"/>
              </a:spcAft>
              <a:buNone/>
            </a:pPr>
            <a:r>
              <a:rPr i="1" lang="fr" sz="731"/>
              <a:t>Cible &gt;= 90%</a:t>
            </a:r>
            <a:endParaRPr i="1" sz="731"/>
          </a:p>
          <a:p>
            <a:pPr indent="0" lvl="0" marL="0" rtl="0" algn="l">
              <a:spcBef>
                <a:spcPts val="0"/>
              </a:spcBef>
              <a:spcAft>
                <a:spcPts val="0"/>
              </a:spcAft>
              <a:buNone/>
            </a:pPr>
            <a:r>
              <a:t/>
            </a:r>
            <a:endParaRPr i="1" sz="731"/>
          </a:p>
          <a:p>
            <a:pPr indent="0" lvl="0" marL="0" rtl="0" algn="l">
              <a:spcBef>
                <a:spcPts val="0"/>
              </a:spcBef>
              <a:spcAft>
                <a:spcPts val="0"/>
              </a:spcAft>
              <a:buNone/>
            </a:pPr>
            <a:r>
              <a:rPr lang="fr"/>
              <a:t>Précision : 85%</a:t>
            </a:r>
            <a:endParaRPr/>
          </a:p>
          <a:p>
            <a:pPr indent="0" lvl="0" marL="0" rtl="0" algn="l">
              <a:spcBef>
                <a:spcPts val="0"/>
              </a:spcBef>
              <a:spcAft>
                <a:spcPts val="0"/>
              </a:spcAft>
              <a:buNone/>
            </a:pPr>
            <a:r>
              <a:rPr i="1" lang="fr" sz="731"/>
              <a:t>Cible &gt;= 80%</a:t>
            </a:r>
            <a:endParaRPr i="1" sz="731"/>
          </a:p>
          <a:p>
            <a:pPr indent="0" lvl="0" marL="0" rtl="0" algn="l">
              <a:spcBef>
                <a:spcPts val="0"/>
              </a:spcBef>
              <a:spcAft>
                <a:spcPts val="0"/>
              </a:spcAft>
              <a:buNone/>
            </a:pPr>
            <a:r>
              <a:t/>
            </a:r>
            <a:endParaRPr i="1" sz="731"/>
          </a:p>
          <a:p>
            <a:pPr indent="0" lvl="0" marL="0" rtl="0" algn="l">
              <a:spcBef>
                <a:spcPts val="0"/>
              </a:spcBef>
              <a:spcAft>
                <a:spcPts val="0"/>
              </a:spcAft>
              <a:buNone/>
            </a:pPr>
            <a:r>
              <a:rPr lang="fr"/>
              <a:t>Taux de traitement automatisé : 76 %</a:t>
            </a:r>
            <a:endParaRPr/>
          </a:p>
          <a:p>
            <a:pPr indent="0" lvl="0" marL="0" rtl="0" algn="l">
              <a:spcBef>
                <a:spcPts val="0"/>
              </a:spcBef>
              <a:spcAft>
                <a:spcPts val="0"/>
              </a:spcAft>
              <a:buNone/>
            </a:pPr>
            <a:r>
              <a:rPr i="1" lang="fr" sz="731"/>
              <a:t>Cible &gt;= 70%</a:t>
            </a:r>
            <a:endParaRPr/>
          </a:p>
          <a:p>
            <a:pPr indent="0" lvl="0" marL="0" rtl="0" algn="l">
              <a:spcBef>
                <a:spcPts val="0"/>
              </a:spcBef>
              <a:spcAft>
                <a:spcPts val="1200"/>
              </a:spcAft>
              <a:buNone/>
            </a:pPr>
            <a:r>
              <a:t/>
            </a:r>
            <a:endParaRPr/>
          </a:p>
        </p:txBody>
      </p:sp>
      <p:pic>
        <p:nvPicPr>
          <p:cNvPr id="168" name="Google Shape;168;p17"/>
          <p:cNvPicPr preferRelativeResize="0"/>
          <p:nvPr/>
        </p:nvPicPr>
        <p:blipFill>
          <a:blip r:embed="rId3">
            <a:alphaModFix/>
          </a:blip>
          <a:stretch>
            <a:fillRect/>
          </a:stretch>
        </p:blipFill>
        <p:spPr>
          <a:xfrm>
            <a:off x="819150" y="1967675"/>
            <a:ext cx="4200250" cy="2494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05/ Suivi et conformité</a:t>
            </a:r>
            <a:endParaRPr/>
          </a:p>
        </p:txBody>
      </p:sp>
      <p:sp>
        <p:nvSpPr>
          <p:cNvPr id="174" name="Google Shape;174;p18"/>
          <p:cNvSpPr txBox="1"/>
          <p:nvPr>
            <p:ph idx="1" type="body"/>
          </p:nvPr>
        </p:nvSpPr>
        <p:spPr>
          <a:xfrm>
            <a:off x="819150" y="1534700"/>
            <a:ext cx="2574900" cy="423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Pilotage et RGPD </a:t>
            </a:r>
            <a:endParaRPr/>
          </a:p>
        </p:txBody>
      </p:sp>
      <p:sp>
        <p:nvSpPr>
          <p:cNvPr id="175" name="Google Shape;175;p18"/>
          <p:cNvSpPr txBox="1"/>
          <p:nvPr>
            <p:ph idx="1" type="body"/>
          </p:nvPr>
        </p:nvSpPr>
        <p:spPr>
          <a:xfrm>
            <a:off x="819150" y="2053400"/>
            <a:ext cx="1704900" cy="423900"/>
          </a:xfrm>
          <a:prstGeom prst="rect">
            <a:avLst/>
          </a:prstGeom>
          <a:ln cap="flat" cmpd="sng" w="28575">
            <a:solidFill>
              <a:schemeClr val="accent6"/>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1200"/>
              </a:spcAft>
              <a:buNone/>
            </a:pPr>
            <a:r>
              <a:rPr lang="fr"/>
              <a:t>Qualité des données</a:t>
            </a:r>
            <a:endParaRPr/>
          </a:p>
        </p:txBody>
      </p:sp>
      <p:sp>
        <p:nvSpPr>
          <p:cNvPr id="176" name="Google Shape;176;p18"/>
          <p:cNvSpPr txBox="1"/>
          <p:nvPr>
            <p:ph idx="1" type="body"/>
          </p:nvPr>
        </p:nvSpPr>
        <p:spPr>
          <a:xfrm>
            <a:off x="819150" y="2477300"/>
            <a:ext cx="1704900" cy="1507500"/>
          </a:xfrm>
          <a:prstGeom prst="rect">
            <a:avLst/>
          </a:prstGeom>
          <a:ln cap="flat" cmpd="sng" w="28575">
            <a:solidFill>
              <a:schemeClr val="accent6"/>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fr" sz="1000"/>
              <a:t>Complétude dataset</a:t>
            </a:r>
            <a:endParaRPr sz="900"/>
          </a:p>
          <a:p>
            <a:pPr indent="0" lvl="0" marL="0" rtl="0" algn="l">
              <a:spcBef>
                <a:spcPts val="0"/>
              </a:spcBef>
              <a:spcAft>
                <a:spcPts val="0"/>
              </a:spcAft>
              <a:buNone/>
            </a:pPr>
            <a:r>
              <a:rPr b="1" lang="fr" sz="1100"/>
              <a:t>98,4 %</a:t>
            </a:r>
            <a:endParaRPr b="1" sz="1100"/>
          </a:p>
          <a:p>
            <a:pPr indent="0" lvl="0" marL="0" rtl="0" algn="l">
              <a:spcBef>
                <a:spcPts val="0"/>
              </a:spcBef>
              <a:spcAft>
                <a:spcPts val="0"/>
              </a:spcAft>
              <a:buNone/>
            </a:pPr>
            <a:r>
              <a:t/>
            </a:r>
            <a:endParaRPr sz="1100"/>
          </a:p>
          <a:p>
            <a:pPr indent="0" lvl="0" marL="0" rtl="0" algn="l">
              <a:spcBef>
                <a:spcPts val="0"/>
              </a:spcBef>
              <a:spcAft>
                <a:spcPts val="0"/>
              </a:spcAft>
              <a:buNone/>
            </a:pPr>
            <a:r>
              <a:rPr lang="fr" sz="1000"/>
              <a:t>Doublons résiduels</a:t>
            </a:r>
            <a:endParaRPr sz="1000"/>
          </a:p>
          <a:p>
            <a:pPr indent="0" lvl="0" marL="0" rtl="0" algn="l">
              <a:spcBef>
                <a:spcPts val="0"/>
              </a:spcBef>
              <a:spcAft>
                <a:spcPts val="0"/>
              </a:spcAft>
              <a:buNone/>
            </a:pPr>
            <a:r>
              <a:rPr b="1" lang="fr" sz="1100"/>
              <a:t>0,3 %</a:t>
            </a:r>
            <a:endParaRPr b="1" sz="1100"/>
          </a:p>
          <a:p>
            <a:pPr indent="0" lvl="0" marL="0" rtl="0" algn="l">
              <a:spcBef>
                <a:spcPts val="0"/>
              </a:spcBef>
              <a:spcAft>
                <a:spcPts val="0"/>
              </a:spcAft>
              <a:buNone/>
            </a:pPr>
            <a:r>
              <a:t/>
            </a:r>
            <a:endParaRPr sz="1100"/>
          </a:p>
          <a:p>
            <a:pPr indent="0" lvl="0" marL="0" rtl="0" algn="l">
              <a:spcBef>
                <a:spcPts val="0"/>
              </a:spcBef>
              <a:spcAft>
                <a:spcPts val="0"/>
              </a:spcAft>
              <a:buNone/>
            </a:pPr>
            <a:r>
              <a:rPr lang="fr" sz="1000"/>
              <a:t>Couverture freatures</a:t>
            </a:r>
            <a:endParaRPr sz="1000"/>
          </a:p>
          <a:p>
            <a:pPr indent="0" lvl="0" marL="0" rtl="0" algn="l">
              <a:spcBef>
                <a:spcPts val="0"/>
              </a:spcBef>
              <a:spcAft>
                <a:spcPts val="0"/>
              </a:spcAft>
              <a:buNone/>
            </a:pPr>
            <a:r>
              <a:rPr b="1" lang="fr" sz="1100"/>
              <a:t>100 %</a:t>
            </a:r>
            <a:endParaRPr b="1" sz="1100"/>
          </a:p>
        </p:txBody>
      </p:sp>
      <p:sp>
        <p:nvSpPr>
          <p:cNvPr id="177" name="Google Shape;177;p18"/>
          <p:cNvSpPr txBox="1"/>
          <p:nvPr>
            <p:ph idx="1" type="body"/>
          </p:nvPr>
        </p:nvSpPr>
        <p:spPr>
          <a:xfrm>
            <a:off x="3719550" y="2053400"/>
            <a:ext cx="1704900" cy="423900"/>
          </a:xfrm>
          <a:prstGeom prst="rect">
            <a:avLst/>
          </a:prstGeom>
          <a:ln cap="flat" cmpd="sng" w="28575">
            <a:solidFill>
              <a:srgbClr val="F6716E"/>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1200"/>
              </a:spcAft>
              <a:buNone/>
            </a:pPr>
            <a:r>
              <a:rPr lang="fr"/>
              <a:t>Conformité RGPD</a:t>
            </a:r>
            <a:endParaRPr/>
          </a:p>
        </p:txBody>
      </p:sp>
      <p:sp>
        <p:nvSpPr>
          <p:cNvPr id="178" name="Google Shape;178;p18"/>
          <p:cNvSpPr txBox="1"/>
          <p:nvPr>
            <p:ph idx="1" type="body"/>
          </p:nvPr>
        </p:nvSpPr>
        <p:spPr>
          <a:xfrm>
            <a:off x="3719550" y="2477300"/>
            <a:ext cx="1704900" cy="1507500"/>
          </a:xfrm>
          <a:prstGeom prst="rect">
            <a:avLst/>
          </a:prstGeom>
          <a:ln cap="flat" cmpd="sng" w="28575">
            <a:solidFill>
              <a:srgbClr val="F6716E"/>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fr" sz="1000"/>
              <a:t>AIPD signée DPO</a:t>
            </a:r>
            <a:endParaRPr sz="900"/>
          </a:p>
          <a:p>
            <a:pPr indent="0" lvl="0" marL="0" rtl="0" algn="l">
              <a:spcBef>
                <a:spcPts val="0"/>
              </a:spcBef>
              <a:spcAft>
                <a:spcPts val="0"/>
              </a:spcAft>
              <a:buNone/>
            </a:pPr>
            <a:r>
              <a:rPr b="1" lang="fr" sz="1100"/>
              <a:t>28/05/26</a:t>
            </a:r>
            <a:endParaRPr b="1" sz="1100"/>
          </a:p>
          <a:p>
            <a:pPr indent="0" lvl="0" marL="0" rtl="0" algn="l">
              <a:spcBef>
                <a:spcPts val="0"/>
              </a:spcBef>
              <a:spcAft>
                <a:spcPts val="0"/>
              </a:spcAft>
              <a:buNone/>
            </a:pPr>
            <a:r>
              <a:t/>
            </a:r>
            <a:endParaRPr sz="1100"/>
          </a:p>
          <a:p>
            <a:pPr indent="0" lvl="0" marL="0" rtl="0" algn="l">
              <a:spcBef>
                <a:spcPts val="0"/>
              </a:spcBef>
              <a:spcAft>
                <a:spcPts val="0"/>
              </a:spcAft>
              <a:buNone/>
            </a:pPr>
            <a:r>
              <a:rPr lang="fr" sz="1000"/>
              <a:t>Délai d’accès moyen</a:t>
            </a:r>
            <a:endParaRPr sz="1000"/>
          </a:p>
          <a:p>
            <a:pPr indent="0" lvl="0" marL="0" rtl="0" algn="l">
              <a:spcBef>
                <a:spcPts val="0"/>
              </a:spcBef>
              <a:spcAft>
                <a:spcPts val="0"/>
              </a:spcAft>
              <a:buNone/>
            </a:pPr>
            <a:r>
              <a:rPr b="1" lang="fr" sz="1100"/>
              <a:t>48 heures</a:t>
            </a:r>
            <a:endParaRPr b="1" sz="1100"/>
          </a:p>
          <a:p>
            <a:pPr indent="0" lvl="0" marL="0" rtl="0" algn="l">
              <a:spcBef>
                <a:spcPts val="0"/>
              </a:spcBef>
              <a:spcAft>
                <a:spcPts val="0"/>
              </a:spcAft>
              <a:buNone/>
            </a:pPr>
            <a:r>
              <a:t/>
            </a:r>
            <a:endParaRPr sz="1100"/>
          </a:p>
          <a:p>
            <a:pPr indent="0" lvl="0" marL="0" rtl="0" algn="l">
              <a:spcBef>
                <a:spcPts val="0"/>
              </a:spcBef>
              <a:spcAft>
                <a:spcPts val="0"/>
              </a:spcAft>
              <a:buNone/>
            </a:pPr>
            <a:r>
              <a:rPr lang="fr" sz="1000"/>
              <a:t>Incidents pseudo</a:t>
            </a:r>
            <a:endParaRPr sz="1000"/>
          </a:p>
          <a:p>
            <a:pPr indent="0" lvl="0" marL="0" rtl="0" algn="l">
              <a:spcBef>
                <a:spcPts val="0"/>
              </a:spcBef>
              <a:spcAft>
                <a:spcPts val="0"/>
              </a:spcAft>
              <a:buNone/>
            </a:pPr>
            <a:r>
              <a:rPr b="1" lang="fr" sz="1100"/>
              <a:t>0</a:t>
            </a:r>
            <a:endParaRPr b="1" sz="1100"/>
          </a:p>
        </p:txBody>
      </p:sp>
      <p:sp>
        <p:nvSpPr>
          <p:cNvPr id="179" name="Google Shape;179;p18"/>
          <p:cNvSpPr txBox="1"/>
          <p:nvPr>
            <p:ph idx="1" type="body"/>
          </p:nvPr>
        </p:nvSpPr>
        <p:spPr>
          <a:xfrm>
            <a:off x="6619950" y="2053400"/>
            <a:ext cx="1704900" cy="423900"/>
          </a:xfrm>
          <a:prstGeom prst="rect">
            <a:avLst/>
          </a:prstGeom>
          <a:ln cap="flat" cmpd="sng" w="28575">
            <a:solidFill>
              <a:srgbClr val="FFD966"/>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1200"/>
              </a:spcAft>
              <a:buNone/>
            </a:pPr>
            <a:r>
              <a:rPr lang="fr"/>
              <a:t>Dashboard suivi</a:t>
            </a:r>
            <a:endParaRPr/>
          </a:p>
        </p:txBody>
      </p:sp>
      <p:sp>
        <p:nvSpPr>
          <p:cNvPr id="180" name="Google Shape;180;p18"/>
          <p:cNvSpPr txBox="1"/>
          <p:nvPr>
            <p:ph idx="1" type="body"/>
          </p:nvPr>
        </p:nvSpPr>
        <p:spPr>
          <a:xfrm>
            <a:off x="6619950" y="2477300"/>
            <a:ext cx="1704900" cy="1507500"/>
          </a:xfrm>
          <a:prstGeom prst="rect">
            <a:avLst/>
          </a:prstGeom>
          <a:ln cap="flat" cmpd="sng" w="28575">
            <a:solidFill>
              <a:srgbClr val="FFD966"/>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fr" sz="1000"/>
              <a:t>Rafraîchissement</a:t>
            </a:r>
            <a:endParaRPr sz="900"/>
          </a:p>
          <a:p>
            <a:pPr indent="0" lvl="0" marL="0" rtl="0" algn="l">
              <a:spcBef>
                <a:spcPts val="0"/>
              </a:spcBef>
              <a:spcAft>
                <a:spcPts val="0"/>
              </a:spcAft>
              <a:buNone/>
            </a:pPr>
            <a:r>
              <a:rPr b="1" lang="fr" sz="1100"/>
              <a:t>Hebdomadaire</a:t>
            </a:r>
            <a:endParaRPr b="1" sz="1100"/>
          </a:p>
          <a:p>
            <a:pPr indent="0" lvl="0" marL="0" rtl="0" algn="l">
              <a:spcBef>
                <a:spcPts val="0"/>
              </a:spcBef>
              <a:spcAft>
                <a:spcPts val="0"/>
              </a:spcAft>
              <a:buNone/>
            </a:pPr>
            <a:r>
              <a:t/>
            </a:r>
            <a:endParaRPr sz="1100"/>
          </a:p>
          <a:p>
            <a:pPr indent="0" lvl="0" marL="0" rtl="0" algn="l">
              <a:spcBef>
                <a:spcPts val="0"/>
              </a:spcBef>
              <a:spcAft>
                <a:spcPts val="0"/>
              </a:spcAft>
              <a:buNone/>
            </a:pPr>
            <a:r>
              <a:rPr lang="fr" sz="1000"/>
              <a:t>Adoption S12</a:t>
            </a:r>
            <a:endParaRPr sz="1000"/>
          </a:p>
          <a:p>
            <a:pPr indent="0" lvl="0" marL="0" rtl="0" algn="l">
              <a:spcBef>
                <a:spcPts val="0"/>
              </a:spcBef>
              <a:spcAft>
                <a:spcPts val="0"/>
              </a:spcAft>
              <a:buNone/>
            </a:pPr>
            <a:r>
              <a:rPr b="1" lang="fr" sz="1100"/>
              <a:t>74 %</a:t>
            </a:r>
            <a:endParaRPr b="1" sz="1100"/>
          </a:p>
          <a:p>
            <a:pPr indent="0" lvl="0" marL="0" rtl="0" algn="l">
              <a:spcBef>
                <a:spcPts val="0"/>
              </a:spcBef>
              <a:spcAft>
                <a:spcPts val="0"/>
              </a:spcAft>
              <a:buNone/>
            </a:pPr>
            <a:r>
              <a:t/>
            </a:r>
            <a:endParaRPr sz="1100"/>
          </a:p>
          <a:p>
            <a:pPr indent="0" lvl="0" marL="0" rtl="0" algn="l">
              <a:spcBef>
                <a:spcPts val="0"/>
              </a:spcBef>
              <a:spcAft>
                <a:spcPts val="0"/>
              </a:spcAft>
              <a:buNone/>
            </a:pPr>
            <a:r>
              <a:rPr lang="fr" sz="1000"/>
              <a:t>Suivi budget</a:t>
            </a:r>
            <a:endParaRPr sz="1000"/>
          </a:p>
          <a:p>
            <a:pPr indent="0" lvl="0" marL="0" rtl="0" algn="l">
              <a:spcBef>
                <a:spcPts val="0"/>
              </a:spcBef>
              <a:spcAft>
                <a:spcPts val="0"/>
              </a:spcAft>
              <a:buNone/>
            </a:pPr>
            <a:r>
              <a:rPr b="1" lang="fr" sz="1100"/>
              <a:t>82 </a:t>
            </a:r>
            <a:r>
              <a:rPr b="1" lang="fr" sz="1100"/>
              <a:t>%</a:t>
            </a:r>
            <a:endParaRPr b="1"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1000"/>
                                        <p:tgtEl>
                                          <p:spTgt spid="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06/ Vulgarisation et Adoption</a:t>
            </a:r>
            <a:endParaRPr/>
          </a:p>
        </p:txBody>
      </p:sp>
      <p:sp>
        <p:nvSpPr>
          <p:cNvPr id="186" name="Google Shape;186;p19"/>
          <p:cNvSpPr txBox="1"/>
          <p:nvPr>
            <p:ph idx="1" type="body"/>
          </p:nvPr>
        </p:nvSpPr>
        <p:spPr>
          <a:xfrm>
            <a:off x="819150" y="1489825"/>
            <a:ext cx="1939500" cy="379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fr"/>
              <a:t>Comment cela a été reçu</a:t>
            </a:r>
            <a:endParaRPr/>
          </a:p>
        </p:txBody>
      </p:sp>
      <p:sp>
        <p:nvSpPr>
          <p:cNvPr id="187" name="Google Shape;187;p19"/>
          <p:cNvSpPr txBox="1"/>
          <p:nvPr>
            <p:ph idx="1" type="body"/>
          </p:nvPr>
        </p:nvSpPr>
        <p:spPr>
          <a:xfrm>
            <a:off x="819150" y="1996350"/>
            <a:ext cx="4219800" cy="2295000"/>
          </a:xfrm>
          <a:prstGeom prst="rect">
            <a:avLst/>
          </a:prstGeom>
          <a:ln cap="flat" cmpd="sng" w="28575">
            <a:solidFill>
              <a:srgbClr val="49CB73"/>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fr">
                <a:solidFill>
                  <a:srgbClr val="49CB73"/>
                </a:solidFill>
              </a:rPr>
              <a:t>Score de satisfaction Post-restitution</a:t>
            </a:r>
            <a:endParaRPr>
              <a:solidFill>
                <a:srgbClr val="49CB73"/>
              </a:solidFill>
            </a:endParaRPr>
          </a:p>
          <a:p>
            <a:pPr indent="0" lvl="0" marL="0" rtl="0" algn="ctr">
              <a:spcBef>
                <a:spcPts val="1200"/>
              </a:spcBef>
              <a:spcAft>
                <a:spcPts val="0"/>
              </a:spcAft>
              <a:buNone/>
            </a:pPr>
            <a:r>
              <a:rPr lang="fr" sz="4500">
                <a:solidFill>
                  <a:srgbClr val="49CB73"/>
                </a:solidFill>
              </a:rPr>
              <a:t>4,4 / 5</a:t>
            </a:r>
            <a:endParaRPr sz="4500">
              <a:solidFill>
                <a:srgbClr val="49CB73"/>
              </a:solidFill>
            </a:endParaRPr>
          </a:p>
          <a:p>
            <a:pPr indent="0" lvl="0" marL="0" rtl="0" algn="l">
              <a:spcBef>
                <a:spcPts val="1200"/>
              </a:spcBef>
              <a:spcAft>
                <a:spcPts val="0"/>
              </a:spcAft>
              <a:buNone/>
            </a:pPr>
            <a:r>
              <a:rPr i="1" lang="fr" sz="900"/>
              <a:t>Cible  &gt;= 4 / 5. n = 8 destinataires de la présentation COMEX</a:t>
            </a:r>
            <a:endParaRPr i="1" sz="900"/>
          </a:p>
          <a:p>
            <a:pPr indent="0" lvl="0" marL="0" rtl="0" algn="l">
              <a:spcBef>
                <a:spcPts val="1200"/>
              </a:spcBef>
              <a:spcAft>
                <a:spcPts val="0"/>
              </a:spcAft>
              <a:buNone/>
            </a:pPr>
            <a:r>
              <a:rPr i="1" lang="fr" sz="900"/>
              <a:t>“ La présentation technique du Centroïde Spectral était parfaitement vulgarisée, sans jargon inutile, et le ROI sur les 1,8 M€ de pertes était évident. C’est validé pour le board”</a:t>
            </a:r>
            <a:endParaRPr i="1" sz="900"/>
          </a:p>
          <a:p>
            <a:pPr indent="0" lvl="0" marL="0" rtl="0" algn="l">
              <a:spcBef>
                <a:spcPts val="1200"/>
              </a:spcBef>
              <a:spcAft>
                <a:spcPts val="1200"/>
              </a:spcAft>
              <a:buNone/>
            </a:pPr>
            <a:r>
              <a:rPr i="1" lang="fr" sz="900"/>
              <a:t>Caroline Clarinette. </a:t>
            </a:r>
            <a:endParaRPr i="1" sz="900"/>
          </a:p>
        </p:txBody>
      </p:sp>
      <p:sp>
        <p:nvSpPr>
          <p:cNvPr id="188" name="Google Shape;188;p19"/>
          <p:cNvSpPr txBox="1"/>
          <p:nvPr>
            <p:ph idx="1" type="body"/>
          </p:nvPr>
        </p:nvSpPr>
        <p:spPr>
          <a:xfrm>
            <a:off x="5491050" y="1996350"/>
            <a:ext cx="2833800" cy="2295000"/>
          </a:xfrm>
          <a:prstGeom prst="rect">
            <a:avLst/>
          </a:prstGeom>
          <a:solidFill>
            <a:srgbClr val="F3F3F3"/>
          </a:solidFill>
          <a:ln cap="flat" cmpd="sng" w="9525">
            <a:solidFill>
              <a:schemeClr val="dk1"/>
            </a:solidFill>
            <a:prstDash val="solid"/>
            <a:round/>
            <a:headEnd len="sm" w="sm" type="none"/>
            <a:tailEnd len="sm" w="sm" type="none"/>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fr">
                <a:solidFill>
                  <a:srgbClr val="49CB73"/>
                </a:solidFill>
              </a:rPr>
              <a:t>Adoption en S12</a:t>
            </a:r>
            <a:endParaRPr>
              <a:solidFill>
                <a:srgbClr val="49CB73"/>
              </a:solidFill>
            </a:endParaRPr>
          </a:p>
          <a:p>
            <a:pPr indent="0" lvl="0" marL="0" rtl="0" algn="ctr">
              <a:spcBef>
                <a:spcPts val="1200"/>
              </a:spcBef>
              <a:spcAft>
                <a:spcPts val="0"/>
              </a:spcAft>
              <a:buNone/>
            </a:pPr>
            <a:r>
              <a:rPr lang="fr" sz="4500">
                <a:solidFill>
                  <a:srgbClr val="49CB73"/>
                </a:solidFill>
              </a:rPr>
              <a:t>74 %</a:t>
            </a:r>
            <a:endParaRPr sz="4500">
              <a:solidFill>
                <a:srgbClr val="49CB73"/>
              </a:solidFill>
            </a:endParaRPr>
          </a:p>
          <a:p>
            <a:pPr indent="0" lvl="0" marL="0" rtl="0" algn="l">
              <a:spcBef>
                <a:spcPts val="1200"/>
              </a:spcBef>
              <a:spcAft>
                <a:spcPts val="0"/>
              </a:spcAft>
              <a:buNone/>
            </a:pPr>
            <a:r>
              <a:rPr i="1" lang="fr" sz="900"/>
              <a:t>Cible  &gt;= 70%. 45 agents administratifs (5 campus pilotes)</a:t>
            </a:r>
            <a:endParaRPr i="1" sz="900"/>
          </a:p>
          <a:p>
            <a:pPr indent="0" lvl="0" marL="0" rtl="0" algn="l">
              <a:spcBef>
                <a:spcPts val="1200"/>
              </a:spcBef>
              <a:spcAft>
                <a:spcPts val="1200"/>
              </a:spcAft>
              <a:buNone/>
            </a:pPr>
            <a:r>
              <a:rPr i="1" lang="fr" sz="900"/>
              <a:t>Protocole de mesure : Enquête post-démo + relance Teams (Anthony Piano) + logs d’activité Snowflake &amp; Salesforce (Medhi Banjo)</a:t>
            </a:r>
            <a:endParaRPr i="1" sz="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07/ Pilotage global</a:t>
            </a:r>
            <a:endParaRPr/>
          </a:p>
        </p:txBody>
      </p:sp>
      <p:sp>
        <p:nvSpPr>
          <p:cNvPr id="194" name="Google Shape;194;p20"/>
          <p:cNvSpPr txBox="1"/>
          <p:nvPr>
            <p:ph idx="1" type="body"/>
          </p:nvPr>
        </p:nvSpPr>
        <p:spPr>
          <a:xfrm>
            <a:off x="819150" y="1413500"/>
            <a:ext cx="2559900" cy="386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Risques anticipés vs matérialisés</a:t>
            </a:r>
            <a:endParaRPr/>
          </a:p>
        </p:txBody>
      </p:sp>
      <p:pic>
        <p:nvPicPr>
          <p:cNvPr id="195" name="Google Shape;195;p20"/>
          <p:cNvPicPr preferRelativeResize="0"/>
          <p:nvPr/>
        </p:nvPicPr>
        <p:blipFill>
          <a:blip r:embed="rId3">
            <a:alphaModFix/>
          </a:blip>
          <a:stretch>
            <a:fillRect/>
          </a:stretch>
        </p:blipFill>
        <p:spPr>
          <a:xfrm>
            <a:off x="1564350" y="1905050"/>
            <a:ext cx="6015300" cy="2525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En une phrase</a:t>
            </a:r>
            <a:endParaRPr/>
          </a:p>
        </p:txBody>
      </p:sp>
      <p:sp>
        <p:nvSpPr>
          <p:cNvPr id="201" name="Google Shape;201;p21"/>
          <p:cNvSpPr txBox="1"/>
          <p:nvPr>
            <p:ph idx="1" type="body"/>
          </p:nvPr>
        </p:nvSpPr>
        <p:spPr>
          <a:xfrm>
            <a:off x="819150" y="1990725"/>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i="1" lang="fr" sz="1500"/>
              <a:t>Nous avons </a:t>
            </a:r>
            <a:r>
              <a:rPr i="1" lang="fr" sz="1500"/>
              <a:t>construit</a:t>
            </a:r>
            <a:r>
              <a:rPr i="1" lang="fr" sz="1500"/>
              <a:t> un outil qui aide les agents administratifs à trier et router automatiquement 1000 fichiers </a:t>
            </a:r>
            <a:r>
              <a:rPr i="1" lang="fr" sz="1500"/>
              <a:t>hebdomadaires</a:t>
            </a:r>
            <a:r>
              <a:rPr i="1" lang="fr" sz="1500"/>
              <a:t> complexes – et nous l’avons fait en 12 semaines, en respectant le budget, le RGPD et le calendrier. </a:t>
            </a:r>
            <a:endParaRPr i="1" sz="1500"/>
          </a:p>
        </p:txBody>
      </p:sp>
      <p:sp>
        <p:nvSpPr>
          <p:cNvPr id="202" name="Google Shape;202;p21"/>
          <p:cNvSpPr txBox="1"/>
          <p:nvPr>
            <p:ph idx="1" type="body"/>
          </p:nvPr>
        </p:nvSpPr>
        <p:spPr>
          <a:xfrm>
            <a:off x="819150" y="3278925"/>
            <a:ext cx="1850400" cy="1072200"/>
          </a:xfrm>
          <a:prstGeom prst="rect">
            <a:avLst/>
          </a:prstGeom>
          <a:ln cap="flat" cmpd="sng" w="19050">
            <a:solidFill>
              <a:schemeClr val="lt2"/>
            </a:solidFill>
            <a:prstDash val="solid"/>
            <a:round/>
            <a:headEnd len="sm" w="sm" type="none"/>
            <a:tailEnd len="sm" w="sm" type="none"/>
          </a:ln>
        </p:spPr>
        <p:txBody>
          <a:bodyPr anchorCtr="0" anchor="t" bIns="91425" lIns="91425" spcFirstLastPara="1" rIns="91425" wrap="square" tIns="91425">
            <a:normAutofit fontScale="92500"/>
          </a:bodyPr>
          <a:lstStyle/>
          <a:p>
            <a:pPr indent="0" lvl="0" marL="0" rtl="0" algn="ctr">
              <a:spcBef>
                <a:spcPts val="0"/>
              </a:spcBef>
              <a:spcAft>
                <a:spcPts val="0"/>
              </a:spcAft>
              <a:buNone/>
            </a:pPr>
            <a:r>
              <a:rPr b="1" lang="fr" sz="3224">
                <a:solidFill>
                  <a:schemeClr val="accent6"/>
                </a:solidFill>
              </a:rPr>
              <a:t>134 k€</a:t>
            </a:r>
            <a:endParaRPr b="1" sz="3224">
              <a:solidFill>
                <a:schemeClr val="accent6"/>
              </a:solidFill>
            </a:endParaRPr>
          </a:p>
          <a:p>
            <a:pPr indent="0" lvl="0" marL="0" rtl="0" algn="l">
              <a:spcBef>
                <a:spcPts val="1200"/>
              </a:spcBef>
              <a:spcAft>
                <a:spcPts val="1200"/>
              </a:spcAft>
              <a:buNone/>
            </a:pPr>
            <a:r>
              <a:rPr i="1" lang="fr" sz="1000"/>
              <a:t>Investissement </a:t>
            </a:r>
            <a:r>
              <a:rPr i="1" lang="fr" sz="1000"/>
              <a:t>phase 1 + phase 2</a:t>
            </a:r>
            <a:endParaRPr i="1" sz="1000"/>
          </a:p>
        </p:txBody>
      </p:sp>
      <p:sp>
        <p:nvSpPr>
          <p:cNvPr id="203" name="Google Shape;203;p21"/>
          <p:cNvSpPr txBox="1"/>
          <p:nvPr>
            <p:ph idx="1" type="body"/>
          </p:nvPr>
        </p:nvSpPr>
        <p:spPr>
          <a:xfrm>
            <a:off x="3360150" y="3278925"/>
            <a:ext cx="2423700" cy="1072200"/>
          </a:xfrm>
          <a:prstGeom prst="rect">
            <a:avLst/>
          </a:prstGeom>
          <a:ln cap="flat" cmpd="sng" w="19050">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358"/>
              <a:buNone/>
            </a:pPr>
            <a:r>
              <a:rPr b="1" lang="fr" sz="2979">
                <a:solidFill>
                  <a:schemeClr val="accent6"/>
                </a:solidFill>
              </a:rPr>
              <a:t>600 k€ - 1 M€</a:t>
            </a:r>
            <a:endParaRPr b="1" sz="2979">
              <a:solidFill>
                <a:schemeClr val="accent6"/>
              </a:solidFill>
            </a:endParaRPr>
          </a:p>
          <a:p>
            <a:pPr indent="0" lvl="0" marL="0" rtl="0" algn="l">
              <a:lnSpc>
                <a:spcPct val="105000"/>
              </a:lnSpc>
              <a:spcBef>
                <a:spcPts val="1200"/>
              </a:spcBef>
              <a:spcAft>
                <a:spcPts val="1200"/>
              </a:spcAft>
              <a:buSzPts val="358"/>
              <a:buNone/>
            </a:pPr>
            <a:r>
              <a:rPr i="1" lang="fr" sz="936"/>
              <a:t>Gain estimé sur 12 mois</a:t>
            </a:r>
            <a:endParaRPr i="1" sz="936"/>
          </a:p>
        </p:txBody>
      </p:sp>
      <p:sp>
        <p:nvSpPr>
          <p:cNvPr id="204" name="Google Shape;204;p21"/>
          <p:cNvSpPr txBox="1"/>
          <p:nvPr>
            <p:ph idx="1" type="body"/>
          </p:nvPr>
        </p:nvSpPr>
        <p:spPr>
          <a:xfrm>
            <a:off x="6474450" y="3278925"/>
            <a:ext cx="1850400" cy="1072200"/>
          </a:xfrm>
          <a:prstGeom prst="rect">
            <a:avLst/>
          </a:prstGeom>
          <a:ln cap="flat" cmpd="sng" w="19050">
            <a:solidFill>
              <a:schemeClr val="lt2"/>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None/>
            </a:pPr>
            <a:r>
              <a:rPr b="1" lang="fr" sz="3224">
                <a:solidFill>
                  <a:schemeClr val="accent6"/>
                </a:solidFill>
              </a:rPr>
              <a:t>5-6 mois</a:t>
            </a:r>
            <a:endParaRPr b="1" sz="3224">
              <a:solidFill>
                <a:schemeClr val="accent6"/>
              </a:solidFill>
            </a:endParaRPr>
          </a:p>
          <a:p>
            <a:pPr indent="0" lvl="0" marL="0" rtl="0" algn="l">
              <a:spcBef>
                <a:spcPts val="1200"/>
              </a:spcBef>
              <a:spcAft>
                <a:spcPts val="1200"/>
              </a:spcAft>
              <a:buNone/>
            </a:pPr>
            <a:r>
              <a:rPr i="1" lang="fr" sz="900"/>
              <a:t>Payback</a:t>
            </a:r>
            <a:endParaRPr i="1" sz="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2"/>
          <p:cNvSpPr txBox="1"/>
          <p:nvPr>
            <p:ph type="title"/>
          </p:nvPr>
        </p:nvSpPr>
        <p:spPr>
          <a:xfrm>
            <a:off x="819150" y="845600"/>
            <a:ext cx="7397100" cy="597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10 / Synthèse KPIs</a:t>
            </a:r>
            <a:endParaRPr/>
          </a:p>
          <a:p>
            <a:pPr indent="0" lvl="0" marL="0" rtl="0" algn="l">
              <a:spcBef>
                <a:spcPts val="0"/>
              </a:spcBef>
              <a:spcAft>
                <a:spcPts val="0"/>
              </a:spcAft>
              <a:buNone/>
            </a:pPr>
            <a:r>
              <a:rPr b="1" lang="fr" sz="1667">
                <a:solidFill>
                  <a:schemeClr val="dk2"/>
                </a:solidFill>
              </a:rPr>
              <a:t>C6.1 → C6.6 : 13 KPIs choisis</a:t>
            </a:r>
            <a:endParaRPr b="1" sz="1667">
              <a:solidFill>
                <a:schemeClr val="dk2"/>
              </a:solidFill>
            </a:endParaRPr>
          </a:p>
        </p:txBody>
      </p:sp>
      <p:pic>
        <p:nvPicPr>
          <p:cNvPr id="210" name="Google Shape;210;p22"/>
          <p:cNvPicPr preferRelativeResize="0"/>
          <p:nvPr/>
        </p:nvPicPr>
        <p:blipFill>
          <a:blip r:embed="rId3">
            <a:alphaModFix/>
          </a:blip>
          <a:stretch>
            <a:fillRect/>
          </a:stretch>
        </p:blipFill>
        <p:spPr>
          <a:xfrm>
            <a:off x="1423975" y="1763438"/>
            <a:ext cx="6296025" cy="29622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